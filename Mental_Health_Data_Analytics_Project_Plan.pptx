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730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4E9237-8A99-DD7D-3364-83FAE9265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854"/>
            <a:ext cx="9144000" cy="51177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144" y="-7144"/>
            <a:ext cx="915828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1481" y="468334"/>
            <a:ext cx="2123480" cy="419695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02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TEAM INFORMATION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0031" y="1134907"/>
            <a:ext cx="8629650" cy="928688"/>
          </a:xfrm>
          <a:prstGeom prst="rect">
            <a:avLst/>
          </a:prstGeom>
          <a:solidFill>
            <a:srgbClr val="1A202C"/>
          </a:solidFill>
          <a:ln w="54864">
            <a:solidFill>
              <a:srgbClr val="805AD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64344" y="1206345"/>
            <a:ext cx="231457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Mohammed Mahmoud Abdelrazek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50044" y="1438517"/>
            <a:ext cx="842962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805AD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PROJECT LEAD &amp; DATA ARCHITECT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50031" y="2135032"/>
            <a:ext cx="4279106" cy="928688"/>
          </a:xfrm>
          <a:prstGeom prst="rect">
            <a:avLst/>
          </a:prstGeom>
          <a:solidFill>
            <a:srgbClr val="FFFFFF"/>
          </a:solidFill>
          <a:ln w="54864">
            <a:solidFill>
              <a:srgbClr val="1A202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64344" y="2206470"/>
            <a:ext cx="10287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02C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Shaza Yousef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50044" y="2438642"/>
            <a:ext cx="4079081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E53E3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BI ANALYSTS (NSDUH)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600575" y="2135032"/>
            <a:ext cx="4279106" cy="928688"/>
          </a:xfrm>
          <a:prstGeom prst="rect">
            <a:avLst/>
          </a:prstGeom>
          <a:solidFill>
            <a:srgbClr val="FFFFFF"/>
          </a:solidFill>
          <a:ln w="54864">
            <a:solidFill>
              <a:srgbClr val="1A202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14888" y="2206470"/>
            <a:ext cx="12858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02C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Habiba Mohammed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00588" y="2438642"/>
            <a:ext cx="4079081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E53E3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BI ANALYSTS (MH-CLD)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50031" y="3135157"/>
            <a:ext cx="4279106" cy="928688"/>
          </a:xfrm>
          <a:prstGeom prst="rect">
            <a:avLst/>
          </a:prstGeom>
          <a:solidFill>
            <a:srgbClr val="FFFFFF"/>
          </a:solidFill>
          <a:ln w="54864">
            <a:solidFill>
              <a:srgbClr val="1A202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4344" y="3206595"/>
            <a:ext cx="145732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02C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Mohannad Mohammed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50044" y="3438767"/>
            <a:ext cx="4079081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E53E3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AI &amp; DATA ENGINEERING ASSOCIATE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600575" y="3135157"/>
            <a:ext cx="4279106" cy="928688"/>
          </a:xfrm>
          <a:prstGeom prst="rect">
            <a:avLst/>
          </a:prstGeom>
          <a:solidFill>
            <a:srgbClr val="FFFFFF"/>
          </a:solidFill>
          <a:ln w="54864">
            <a:solidFill>
              <a:srgbClr val="1A202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14888" y="3206595"/>
            <a:ext cx="111442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02C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Khadija Osama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700588" y="3438767"/>
            <a:ext cx="4079081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E53E3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BI ANALYSTS (TEDS)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75478"/>
            <a:ext cx="3721894" cy="405408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02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PROJECT PROPOSAL &amp; OBJECTIVES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156339"/>
            <a:ext cx="4100513" cy="1975247"/>
          </a:xfrm>
          <a:prstGeom prst="rect">
            <a:avLst/>
          </a:prstGeom>
          <a:solidFill>
            <a:srgbClr val="1A202C"/>
          </a:solidFill>
          <a:ln w="54864">
            <a:solidFill>
              <a:srgbClr val="E53E3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788" y="1427801"/>
            <a:ext cx="37861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Building a modern, optimized data pipeline covering preprocessing, compression, exploratory analysis, and interactive visualization of SAMHSA mental health trends.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614863" y="1156339"/>
            <a:ext cx="4100513" cy="1975247"/>
          </a:xfrm>
          <a:prstGeom prst="rect">
            <a:avLst/>
          </a:prstGeom>
          <a:solidFill>
            <a:srgbClr val="FFFFFF"/>
          </a:solidFill>
          <a:ln w="54864">
            <a:solidFill>
              <a:srgbClr val="1A202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22044" y="1284926"/>
            <a:ext cx="3636169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Process &amp; Prepare: High-performance engineering with Parquet compression.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922044" y="1631398"/>
            <a:ext cx="3636169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Identify Trends: Prevalence and patterns across demographic groups.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922044" y="1977870"/>
            <a:ext cx="3636169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Analyze Care: Treatment admission and discharge outcome patterns.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922044" y="2324342"/>
            <a:ext cx="355758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Robust Modeling: Star Schema for macro-level dataset connection.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922044" y="2533297"/>
            <a:ext cx="3636169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Interactive Delivery: Optimized Power BI dashboard with semantic layers.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75478"/>
            <a:ext cx="2557463" cy="405408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02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SCOPE &amp; DATA SOURCES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213489"/>
            <a:ext cx="3895325" cy="3714750"/>
          </a:xfrm>
          <a:prstGeom prst="rect">
            <a:avLst/>
          </a:prstGeom>
          <a:solidFill>
            <a:srgbClr val="FFFFFF"/>
          </a:solidFill>
          <a:ln w="54864">
            <a:solidFill>
              <a:srgbClr val="1A202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938" y="1384939"/>
            <a:ext cx="34667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02C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INCLUDED SAMHSA DATASETS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92956" y="1717123"/>
            <a:ext cx="262532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E53E3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NSDUH:</a:t>
            </a:r>
            <a:r>
              <a:rPr lang="en-US" sz="8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National Survey on Drug Use and Health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92956" y="1991432"/>
            <a:ext cx="263425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E53E3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TEDS-A:</a:t>
            </a:r>
            <a:r>
              <a:rPr lang="en-US" sz="8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Treatment Episode Data Set: Admissions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92956" y="2265741"/>
            <a:ext cx="221634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E53E3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MH-CLD:</a:t>
            </a:r>
            <a:r>
              <a:rPr lang="en-US" sz="8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Mental Health Client-Level Data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495400" y="1213489"/>
            <a:ext cx="4219975" cy="3714750"/>
          </a:xfrm>
          <a:prstGeom prst="rect">
            <a:avLst/>
          </a:prstGeom>
          <a:solidFill>
            <a:srgbClr val="1A202C"/>
          </a:solidFill>
          <a:ln w="54864">
            <a:solidFill>
              <a:srgbClr val="805AD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09713" y="1384939"/>
            <a:ext cx="379135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05AD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EXCLUDED SOURCES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859731" y="1717123"/>
            <a:ext cx="1823442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805AD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DAWN &amp; URS:</a:t>
            </a:r>
            <a:r>
              <a:rPr lang="en-US" sz="8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Raw data not public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859731" y="2002148"/>
            <a:ext cx="65722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805AD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N-SUMHSS: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516956" y="2002148"/>
            <a:ext cx="121800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Facility-level data only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859731" y="2180016"/>
            <a:ext cx="187523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i="1" dirty="0">
                <a:solidFill>
                  <a:srgbClr val="CBD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Contains no patient-level records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4859731" y="2435042"/>
            <a:ext cx="46077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805AD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TEDS-D: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320503" y="2435042"/>
            <a:ext cx="146625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Corrupted/Unsolvable data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859731" y="2612910"/>
            <a:ext cx="1927027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i="1" dirty="0">
                <a:solidFill>
                  <a:srgbClr val="CBD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Files on website cannot be processed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75478"/>
            <a:ext cx="2682478" cy="405408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02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PROJECT PLAN &amp; PHASES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213489"/>
            <a:ext cx="2705081" cy="1478756"/>
          </a:xfrm>
          <a:prstGeom prst="rect">
            <a:avLst/>
          </a:prstGeom>
          <a:solidFill>
            <a:srgbClr val="FFFFFF"/>
          </a:solidFill>
          <a:ln w="45720">
            <a:solidFill>
              <a:srgbClr val="1A202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5781" y="1320645"/>
            <a:ext cx="249076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05AD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PHASE 0-1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535781" y="1488523"/>
            <a:ext cx="2490769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1A202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Planning &amp; Requirements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35781" y="1714249"/>
            <a:ext cx="2490769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53E3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Jan - May 1, 2026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28650" y="1891057"/>
            <a:ext cx="1109067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Scope &amp; Role Assignment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628650" y="2049642"/>
            <a:ext cx="110013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Stakeholder Identification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628650" y="2208228"/>
            <a:ext cx="1212652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Architecture Documentation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3219431" y="1213489"/>
            <a:ext cx="2705109" cy="1478756"/>
          </a:xfrm>
          <a:prstGeom prst="rect">
            <a:avLst/>
          </a:prstGeom>
          <a:solidFill>
            <a:srgbClr val="FFFFFF"/>
          </a:solidFill>
          <a:ln w="45720">
            <a:solidFill>
              <a:srgbClr val="1A202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26588" y="1320645"/>
            <a:ext cx="2490797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05AD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PHASE 2-3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326588" y="1488523"/>
            <a:ext cx="2490797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1A202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Acquisition &amp; Preprocessing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26588" y="1714249"/>
            <a:ext cx="2490797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53E3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May 2 - Jun 6, 2026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3419456" y="1891057"/>
            <a:ext cx="1307306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3 SAMHSA Datasets Ingestion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3419456" y="2049642"/>
            <a:ext cx="935831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Parquet Compression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3419456" y="2208228"/>
            <a:ext cx="1012627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Missing Value Handling</a:t>
            </a:r>
            <a:endParaRPr lang="en-US" sz="650" dirty="0"/>
          </a:p>
        </p:txBody>
      </p:sp>
      <p:sp>
        <p:nvSpPr>
          <p:cNvPr id="18" name="Shape 15"/>
          <p:cNvSpPr/>
          <p:nvPr/>
        </p:nvSpPr>
        <p:spPr>
          <a:xfrm>
            <a:off x="6010266" y="1213489"/>
            <a:ext cx="2705081" cy="1478756"/>
          </a:xfrm>
          <a:prstGeom prst="rect">
            <a:avLst/>
          </a:prstGeom>
          <a:solidFill>
            <a:srgbClr val="FFFFFF"/>
          </a:solidFill>
          <a:ln w="45720">
            <a:solidFill>
              <a:srgbClr val="1A202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17422" y="1320645"/>
            <a:ext cx="249076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05AD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PHASE 4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6117422" y="1488523"/>
            <a:ext cx="2490769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1A202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Data Modeling &amp; EDA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117422" y="1714249"/>
            <a:ext cx="2490769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53E3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Jun 7 - Jun 27, 2026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6210291" y="1891057"/>
            <a:ext cx="124479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Star Schema Implementation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6210291" y="2049642"/>
            <a:ext cx="955477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Semantic Layer/Views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6210291" y="2208228"/>
            <a:ext cx="92868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Trend Analysis &amp; EDA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428625" y="2692245"/>
            <a:ext cx="2705081" cy="1478756"/>
          </a:xfrm>
          <a:prstGeom prst="rect">
            <a:avLst/>
          </a:prstGeom>
          <a:solidFill>
            <a:srgbClr val="FFFFFF"/>
          </a:solidFill>
          <a:ln w="45720">
            <a:solidFill>
              <a:srgbClr val="1A202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35781" y="2799401"/>
            <a:ext cx="249076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05AD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PHASE 5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35781" y="2967279"/>
            <a:ext cx="2490769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1A202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Power BI Development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35781" y="3193005"/>
            <a:ext cx="2490769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53E3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Jun 28 - Jul 2, 2026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628650" y="3369813"/>
            <a:ext cx="703659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Dataset Loading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628650" y="3528399"/>
            <a:ext cx="975122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Interactive Filter Setup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628650" y="3686984"/>
            <a:ext cx="794742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AI Q&amp;A Integration</a:t>
            </a:r>
            <a:endParaRPr lang="en-US" sz="650" dirty="0"/>
          </a:p>
        </p:txBody>
      </p:sp>
      <p:sp>
        <p:nvSpPr>
          <p:cNvPr id="32" name="Shape 29"/>
          <p:cNvSpPr/>
          <p:nvPr/>
        </p:nvSpPr>
        <p:spPr>
          <a:xfrm>
            <a:off x="3219431" y="2692245"/>
            <a:ext cx="2705109" cy="1478756"/>
          </a:xfrm>
          <a:prstGeom prst="rect">
            <a:avLst/>
          </a:prstGeom>
          <a:solidFill>
            <a:srgbClr val="FFFFFF"/>
          </a:solidFill>
          <a:ln w="45720">
            <a:solidFill>
              <a:srgbClr val="1A202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326588" y="2799401"/>
            <a:ext cx="2490797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05AD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PHASE 6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3326588" y="2967279"/>
            <a:ext cx="2490797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1A202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Review &amp; Documentation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3326588" y="3193005"/>
            <a:ext cx="2490797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53E3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Jul 2 - Jul 8, 2026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3419456" y="3369813"/>
            <a:ext cx="90368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Team Quality Review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3419456" y="3528399"/>
            <a:ext cx="1060847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README &amp; Code Upload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3419456" y="3686984"/>
            <a:ext cx="87689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Final Data Validation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6010266" y="2692245"/>
            <a:ext cx="2705081" cy="1478756"/>
          </a:xfrm>
          <a:prstGeom prst="rect">
            <a:avLst/>
          </a:prstGeom>
          <a:solidFill>
            <a:srgbClr val="FFFFFF"/>
          </a:solidFill>
          <a:ln w="45720">
            <a:solidFill>
              <a:srgbClr val="1A202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117422" y="2799401"/>
            <a:ext cx="249076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05AD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PHASE 7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6117422" y="2967279"/>
            <a:ext cx="2490769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1A202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Final Presentation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6117422" y="3193005"/>
            <a:ext cx="2490769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53E3E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Jul 8 - Jul 17, 2026</a:t>
            </a:r>
            <a:endParaRPr lang="en-US" sz="600" dirty="0"/>
          </a:p>
        </p:txBody>
      </p:sp>
      <p:sp>
        <p:nvSpPr>
          <p:cNvPr id="43" name="Text 40"/>
          <p:cNvSpPr/>
          <p:nvPr/>
        </p:nvSpPr>
        <p:spPr>
          <a:xfrm>
            <a:off x="6210291" y="3369813"/>
            <a:ext cx="746522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Deck Preparation</a:t>
            </a:r>
            <a:endParaRPr lang="en-US" sz="650" dirty="0"/>
          </a:p>
        </p:txBody>
      </p:sp>
      <p:sp>
        <p:nvSpPr>
          <p:cNvPr id="44" name="Text 41"/>
          <p:cNvSpPr/>
          <p:nvPr/>
        </p:nvSpPr>
        <p:spPr>
          <a:xfrm>
            <a:off x="6210291" y="3528399"/>
            <a:ext cx="69473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Team Rehearsal</a:t>
            </a:r>
            <a:endParaRPr lang="en-US" sz="650" dirty="0"/>
          </a:p>
        </p:txBody>
      </p:sp>
      <p:sp>
        <p:nvSpPr>
          <p:cNvPr id="45" name="Text 42"/>
          <p:cNvSpPr/>
          <p:nvPr/>
        </p:nvSpPr>
        <p:spPr>
          <a:xfrm>
            <a:off x="6210291" y="3686984"/>
            <a:ext cx="104298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Dashboard Walkthrough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75478"/>
            <a:ext cx="2937867" cy="419695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02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TASK ASSIGNMENT &amp; ROLES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227776"/>
            <a:ext cx="2826804" cy="3228975"/>
          </a:xfrm>
          <a:prstGeom prst="rect">
            <a:avLst/>
          </a:prstGeom>
          <a:solidFill>
            <a:srgbClr val="FFFFFF"/>
          </a:solidFill>
          <a:ln w="54864">
            <a:solidFill>
              <a:srgbClr val="1A202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7213" y="1342076"/>
            <a:ext cx="2455329" cy="255389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53E3E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LEAD &amp; ARCHITECT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57213" y="1683190"/>
            <a:ext cx="2455329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0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Mohammed Mahmoud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85800" y="1900718"/>
            <a:ext cx="213056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Overseeing the entire project lifecycle and team coordination.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85800" y="2272159"/>
            <a:ext cx="218944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Architecting the cloud infrastructure (AWS S3 &amp; Amazon Athena).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85800" y="2623598"/>
            <a:ext cx="2326742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Execute preprocessing scripts (selcet columns, handle nulls).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85800" y="2975037"/>
            <a:ext cx="18883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Prepare decoding logic from SAMHSA codebooks.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85800" y="3327905"/>
            <a:ext cx="225485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Developing the core AI-Bot (Text-to-SQL integration logic).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269717" y="1227776"/>
            <a:ext cx="2480360" cy="3228975"/>
          </a:xfrm>
          <a:prstGeom prst="rect">
            <a:avLst/>
          </a:prstGeom>
          <a:solidFill>
            <a:srgbClr val="FFFFFF"/>
          </a:solidFill>
          <a:ln w="54864">
            <a:solidFill>
              <a:srgbClr val="805AD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98304" y="1342076"/>
            <a:ext cx="2108885" cy="255389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05AD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BI ANALYSTS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398304" y="1683190"/>
            <a:ext cx="210888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0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Shaza, Habiba, Khadija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526892" y="1920720"/>
            <a:ext cx="198029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Conducting Exploratory Data Analysis (EDA) on assigned SAMHSA datasets.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526892" y="2272159"/>
            <a:ext cx="194745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Developing Power BI Star Schema models and complex DAX measures.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526892" y="2623598"/>
            <a:ext cx="1966987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Managing the Semantic Layer for unified reporting.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526892" y="2975037"/>
            <a:ext cx="196693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Designing and integrating interactive visualization dashboards.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5764364" y="1227776"/>
            <a:ext cx="3010170" cy="3228975"/>
          </a:xfrm>
          <a:prstGeom prst="rect">
            <a:avLst/>
          </a:prstGeom>
          <a:solidFill>
            <a:srgbClr val="FFFFFF"/>
          </a:solidFill>
          <a:ln w="54864">
            <a:solidFill>
              <a:srgbClr val="1A202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8093" y="1342076"/>
            <a:ext cx="2442465" cy="255389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53E3E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AI &amp; DATA ENGINEERING ASSOCIATE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948093" y="1683190"/>
            <a:ext cx="263869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20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Mohannad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076680" y="1920720"/>
            <a:ext cx="2241882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Collaborating on the AI-Bot architecture and development.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6076680" y="2272159"/>
            <a:ext cx="226278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Optimizing Athena SQL queries for performance.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076680" y="2543621"/>
            <a:ext cx="236458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Assisting in automating data pipeline components..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6076680" y="2815084"/>
            <a:ext cx="2392207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Leading the project documentation and preparing the final presentation.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75478"/>
            <a:ext cx="3462933" cy="405408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02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RISK ASSESSMENT &amp; MITIGATION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213489"/>
            <a:ext cx="4086225" cy="1200150"/>
          </a:xfrm>
          <a:prstGeom prst="rect">
            <a:avLst/>
          </a:prstGeom>
          <a:solidFill>
            <a:srgbClr val="FFFFFF"/>
          </a:solidFill>
          <a:ln w="45720">
            <a:solidFill>
              <a:srgbClr val="1A202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1500" y="1327789"/>
            <a:ext cx="3800475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53E3E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FILE SIZE LIMITS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00088" y="1568890"/>
            <a:ext cx="367188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Mitigation: Local feature selection and &gt;80% compression via Parquet conversion.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629150" y="1213489"/>
            <a:ext cx="4086225" cy="1200150"/>
          </a:xfrm>
          <a:prstGeom prst="rect">
            <a:avLst/>
          </a:prstGeom>
          <a:solidFill>
            <a:srgbClr val="FFFFFF"/>
          </a:solidFill>
          <a:ln w="45720">
            <a:solidFill>
              <a:srgbClr val="1A202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72025" y="1327789"/>
            <a:ext cx="3800475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53E3E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LINKAGE ISSUES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900613" y="1568890"/>
            <a:ext cx="367188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Mitigation: Use macro-level Dimensions (State/Year) instead of Patient IDs.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28625" y="2442214"/>
            <a:ext cx="4086225" cy="1200150"/>
          </a:xfrm>
          <a:prstGeom prst="rect">
            <a:avLst/>
          </a:prstGeom>
          <a:solidFill>
            <a:srgbClr val="FFFFFF"/>
          </a:solidFill>
          <a:ln w="45720">
            <a:solidFill>
              <a:srgbClr val="1A202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2556514"/>
            <a:ext cx="3800475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53E3E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CALCULATION ERRORS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00088" y="2797615"/>
            <a:ext cx="343435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Mitigation: Early conversion of -9 coded flags to Nulls in the pipeline.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629150" y="2442214"/>
            <a:ext cx="4086225" cy="1200150"/>
          </a:xfrm>
          <a:prstGeom prst="rect">
            <a:avLst/>
          </a:prstGeom>
          <a:solidFill>
            <a:srgbClr val="FFFFFF"/>
          </a:solidFill>
          <a:ln w="45720">
            <a:solidFill>
              <a:srgbClr val="1A202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72025" y="2556514"/>
            <a:ext cx="3800475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53E3E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900613" y="2797615"/>
            <a:ext cx="360580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Mitigation: On-the-fly decoding via Semantic Layers and DAX measures.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28625" y="3670939"/>
            <a:ext cx="8286750" cy="914400"/>
          </a:xfrm>
          <a:prstGeom prst="rect">
            <a:avLst/>
          </a:prstGeom>
          <a:solidFill>
            <a:srgbClr val="FFFFFF"/>
          </a:solidFill>
          <a:ln w="45720">
            <a:solidFill>
              <a:srgbClr val="1A202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1500" y="3785239"/>
            <a:ext cx="8001000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53E3E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TEAM COORDINATION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00088" y="4026340"/>
            <a:ext cx="410944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Mitigation: Weekly check-ins and centralized GitHub repository for version control.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75478"/>
            <a:ext cx="3386138" cy="419695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02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KEY PERFORMANCE INDICATORS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299214"/>
            <a:ext cx="2666991" cy="3286125"/>
          </a:xfrm>
          <a:prstGeom prst="rect">
            <a:avLst/>
          </a:prstGeom>
          <a:solidFill>
            <a:srgbClr val="FFFFFF"/>
          </a:solidFill>
          <a:ln w="54864">
            <a:solidFill>
              <a:srgbClr val="1A202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0075" y="1470664"/>
            <a:ext cx="2324091" cy="255389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53E3E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ENGINEERING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28663" y="1868928"/>
            <a:ext cx="219550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1A20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KPI-1:</a:t>
            </a:r>
            <a:r>
              <a:rPr lang="en-US" sz="80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&gt;80% storage reduction via Parquet conversion.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28663" y="2283265"/>
            <a:ext cx="21234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1A20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KPI-2:</a:t>
            </a:r>
            <a:r>
              <a:rPr lang="en-US" sz="80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100% conversion of -9 flags to Null.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28663" y="2547584"/>
            <a:ext cx="219550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1A20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KPI-3:</a:t>
            </a:r>
            <a:r>
              <a:rPr lang="en-US" sz="80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Unified naming/types across annual files.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3238491" y="1299214"/>
            <a:ext cx="2666991" cy="3286125"/>
          </a:xfrm>
          <a:prstGeom prst="rect">
            <a:avLst/>
          </a:prstGeom>
          <a:solidFill>
            <a:srgbClr val="FFFFFF"/>
          </a:solidFill>
          <a:ln w="54864">
            <a:solidFill>
              <a:srgbClr val="805AD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09941" y="1470664"/>
            <a:ext cx="2324091" cy="255389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05AD5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538528" y="1868928"/>
            <a:ext cx="219550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1A20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KPI-4:</a:t>
            </a:r>
            <a:r>
              <a:rPr lang="en-US" sz="80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Star schema with 0 direct many-to-many relations.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538528" y="2283265"/>
            <a:ext cx="219550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1A20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KPI-5:</a:t>
            </a:r>
            <a:r>
              <a:rPr lang="en-US" sz="80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Min 5 documented findings per dataset.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6048356" y="1299214"/>
            <a:ext cx="2667019" cy="3286125"/>
          </a:xfrm>
          <a:prstGeom prst="rect">
            <a:avLst/>
          </a:prstGeom>
          <a:solidFill>
            <a:srgbClr val="FFFFFF"/>
          </a:solidFill>
          <a:ln w="54864">
            <a:solidFill>
              <a:srgbClr val="1A202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9806" y="1470664"/>
            <a:ext cx="2324119" cy="255389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53E3E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DELIVERY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348394" y="1868928"/>
            <a:ext cx="209490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1A20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KPI-6:</a:t>
            </a:r>
            <a:r>
              <a:rPr lang="en-US" sz="80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Min 5 interactive dashboard pages.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6348394" y="2133247"/>
            <a:ext cx="219553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1A20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KPI-7:</a:t>
            </a:r>
            <a:r>
              <a:rPr lang="en-US" sz="80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6 out of 7 milestones completed on time.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6348394" y="2547584"/>
            <a:ext cx="20431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1A20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KPI-8:</a:t>
            </a:r>
            <a:r>
              <a:rPr lang="en-US" sz="800" dirty="0">
                <a:solidFill>
                  <a:srgbClr val="2D374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Final submission by July 10, 2026.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19002" y="997334"/>
            <a:ext cx="5105995" cy="3148803"/>
          </a:xfrm>
          <a:prstGeom prst="rect">
            <a:avLst/>
          </a:prstGeom>
          <a:solidFill>
            <a:srgbClr val="FFFFFF"/>
          </a:solidFill>
          <a:ln w="54864">
            <a:solidFill>
              <a:srgbClr val="1A202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504777" y="1789426"/>
            <a:ext cx="4134445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1A202C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CONCLUSION &amp; Q&amp;A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2814638" y="2463784"/>
            <a:ext cx="3729038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High-Quality Mental Health Analytics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814638" y="2797755"/>
            <a:ext cx="362545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Optimized Data Engineering Pipeline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814638" y="3131725"/>
            <a:ext cx="3003947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Roboto Mono SemiBold" pitchFamily="34" charset="0"/>
                <a:ea typeface="Roboto Mono SemiBold" pitchFamily="34" charset="-122"/>
                <a:cs typeface="Roboto Mono SemiBold" pitchFamily="34" charset="-120"/>
              </a:rPr>
              <a:t>Interactive Power BI Delivery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826246" y="3751445"/>
            <a:ext cx="3491508" cy="337542"/>
          </a:xfrm>
          <a:prstGeom prst="rect">
            <a:avLst/>
          </a:prstGeom>
          <a:solidFill>
            <a:srgbClr val="1A202C"/>
          </a:solidFill>
          <a:ln w="27432">
            <a:solidFill>
              <a:srgbClr val="E53E3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826246" y="3751445"/>
            <a:ext cx="3491508" cy="337542"/>
          </a:xfrm>
          <a:prstGeom prst="rect">
            <a:avLst/>
          </a:prstGeom>
          <a:noFill/>
          <a:ln/>
        </p:spPr>
        <p:txBody>
          <a:bodyPr wrap="square" lIns="255143" tIns="127508" rIns="255143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kern="0" spc="2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FINAL PRESENTATION: JULY 17,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646</Words>
  <Application>Microsoft Office PowerPoint</Application>
  <PresentationFormat>On-screen Show (16:9)</PresentationFormat>
  <Paragraphs>125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Inter</vt:lpstr>
      <vt:lpstr>Inter Light</vt:lpstr>
      <vt:lpstr>Roboto Mono SemiBold</vt:lpstr>
      <vt:lpstr>Space Grotesk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محمد محمود عبدالرازق شيخون</cp:lastModifiedBy>
  <cp:revision>2</cp:revision>
  <dcterms:created xsi:type="dcterms:W3CDTF">2026-07-12T19:11:05Z</dcterms:created>
  <dcterms:modified xsi:type="dcterms:W3CDTF">2026-07-12T19:13:06Z</dcterms:modified>
</cp:coreProperties>
</file>